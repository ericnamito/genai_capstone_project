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1" r:id="rId6"/>
    <p:sldId id="262" r:id="rId7"/>
    <p:sldId id="263" r:id="rId8"/>
    <p:sldId id="264" r:id="rId9"/>
  </p:sldIdLst>
  <p:sldSz cx="9144000" cy="5143500" type="screen16x9"/>
  <p:notesSz cx="5143500" cy="9144000"/>
  <p:embeddedFontLst>
    <p:embeddedFont>
      <p:font typeface="Marcellus" panose="020B0604020202020204" charset="0"/>
      <p:regular r:id="rId11"/>
    </p:embeddedFont>
    <p:embeddedFont>
      <p:font typeface="Montserrat" panose="00000500000000000000" pitchFamily="2" charset="0"/>
      <p:regular r:id="rId12"/>
    </p:embeddedFont>
    <p:embeddedFont>
      <p:font typeface="Montserrat Bold" panose="020B0604020202020204" charset="0"/>
      <p:regular r:id="rId13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14" d="100"/>
          <a:sy n="114" d="100"/>
        </p:scale>
        <p:origin x="562" y="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3.fntdata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font" Target="fonts/font2.fntdata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1.fntdata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827181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master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DEC8A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4">
              <a:alpha val="95000"/>
            </a:srgbClr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9180" y="48444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svg"/><Relationship Id="rId5" Type="http://schemas.openxmlformats.org/officeDocument/2006/relationships/image" Target="../media/image9.svg"/><Relationship Id="rId4" Type="http://schemas.openxmlformats.org/officeDocument/2006/relationships/image" Target="../media/image8.sv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600450" cy="5143500"/>
          </a:xfrm>
          <a:prstGeom prst="rect">
            <a:avLst/>
          </a:prstGeom>
          <a:solidFill>
            <a:srgbClr val="FFFFF4"/>
          </a:solidFill>
          <a:ln/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842" y="599405"/>
            <a:ext cx="2629793" cy="3944689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3925119" y="1505769"/>
            <a:ext cx="4722763" cy="10596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3200" dirty="0">
                <a:solidFill>
                  <a:srgbClr val="532418"/>
                </a:solidFill>
                <a:latin typeface="Marcellus" pitchFamily="34" charset="0"/>
                <a:ea typeface="Marcellus" pitchFamily="34" charset="-122"/>
                <a:cs typeface="Marcellus" pitchFamily="34" charset="-120"/>
              </a:rPr>
              <a:t>Making Romanian Law Readable</a:t>
            </a:r>
            <a:endParaRPr lang="en-US" sz="3200" dirty="0"/>
          </a:p>
        </p:txBody>
      </p:sp>
      <p:sp>
        <p:nvSpPr>
          <p:cNvPr id="5" name="Text 2"/>
          <p:cNvSpPr/>
          <p:nvPr/>
        </p:nvSpPr>
        <p:spPr>
          <a:xfrm>
            <a:off x="3925119" y="2778026"/>
            <a:ext cx="4722763" cy="5527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100" dirty="0">
                <a:solidFill>
                  <a:srgbClr val="6753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An agentic pipeline that transforms dense legal PDFs into plain-language versions — and proves the improvement with objective, NLP-grounded metrics.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3925119" y="3490243"/>
            <a:ext cx="5179963" cy="1474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8000"/>
              </a:lnSpc>
            </a:pPr>
            <a:br>
              <a:rPr lang="en-US" sz="850" dirty="0">
                <a:solidFill>
                  <a:srgbClr val="6753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</a:br>
            <a:r>
              <a:rPr lang="en-US" sz="850" dirty="0">
                <a:solidFill>
                  <a:srgbClr val="6753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https://github.com/ericnamito/GenAI_Capstone_Project</a:t>
            </a:r>
            <a:br>
              <a:rPr lang="en-US" sz="850" dirty="0">
                <a:solidFill>
                  <a:srgbClr val="6753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</a:br>
            <a:br>
              <a:rPr lang="en-US" sz="850" dirty="0">
                <a:solidFill>
                  <a:srgbClr val="6753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</a:br>
            <a:br>
              <a:rPr lang="en-US" sz="850" dirty="0">
                <a:solidFill>
                  <a:srgbClr val="6753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</a:br>
            <a:r>
              <a:rPr lang="en-US" sz="850" dirty="0">
                <a:solidFill>
                  <a:srgbClr val="6753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Generated in Gamma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600450" cy="5143500"/>
          </a:xfrm>
          <a:prstGeom prst="rect">
            <a:avLst/>
          </a:prstGeom>
          <a:solidFill>
            <a:srgbClr val="FFFFF4"/>
          </a:solidFill>
          <a:ln/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842" y="599405"/>
            <a:ext cx="2629793" cy="3944689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3925119" y="1099096"/>
            <a:ext cx="4533007" cy="5298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3200" dirty="0">
                <a:solidFill>
                  <a:srgbClr val="532418"/>
                </a:solidFill>
                <a:latin typeface="Marcellus" pitchFamily="34" charset="0"/>
                <a:ea typeface="Marcellus" pitchFamily="34" charset="-122"/>
                <a:cs typeface="Marcellus" pitchFamily="34" charset="-120"/>
              </a:rPr>
              <a:t>Why This Matters</a:t>
            </a:r>
            <a:endParaRPr lang="en-US" sz="3200" dirty="0"/>
          </a:p>
        </p:txBody>
      </p:sp>
      <p:sp>
        <p:nvSpPr>
          <p:cNvPr id="5" name="Shape 2"/>
          <p:cNvSpPr/>
          <p:nvPr/>
        </p:nvSpPr>
        <p:spPr>
          <a:xfrm>
            <a:off x="3925119" y="1841525"/>
            <a:ext cx="4722763" cy="1030560"/>
          </a:xfrm>
          <a:prstGeom prst="roundRect">
            <a:avLst>
              <a:gd name="adj" fmla="val 5778"/>
            </a:avLst>
          </a:prstGeom>
          <a:solidFill>
            <a:srgbClr val="FFFFF4"/>
          </a:solidFill>
          <a:ln w="14288">
            <a:solidFill>
              <a:srgbClr val="FFE0CC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081165" y="1997571"/>
            <a:ext cx="2147143" cy="2649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600" dirty="0">
                <a:solidFill>
                  <a:srgbClr val="67534F"/>
                </a:solidFill>
                <a:latin typeface="Marcellus" pitchFamily="34" charset="0"/>
                <a:ea typeface="Marcellus" pitchFamily="34" charset="-122"/>
                <a:cs typeface="Marcellus" pitchFamily="34" charset="-120"/>
              </a:rPr>
              <a:t>Opaque Administration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4081165" y="2347540"/>
            <a:ext cx="4410670" cy="36849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100" dirty="0">
                <a:solidFill>
                  <a:srgbClr val="6753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Legal and bureaucratic language remains inaccessible to most citizens, limiting transparency and accountability.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3925119" y="3013844"/>
            <a:ext cx="4722763" cy="1030560"/>
          </a:xfrm>
          <a:prstGeom prst="roundRect">
            <a:avLst>
              <a:gd name="adj" fmla="val 5778"/>
            </a:avLst>
          </a:prstGeom>
          <a:solidFill>
            <a:srgbClr val="FFFFF4"/>
          </a:solidFill>
          <a:ln w="14288">
            <a:solidFill>
              <a:srgbClr val="FFE0C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4081165" y="3169890"/>
            <a:ext cx="2037904" cy="2649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600" dirty="0">
                <a:solidFill>
                  <a:srgbClr val="67534F"/>
                </a:solidFill>
                <a:latin typeface="Marcellus" pitchFamily="34" charset="0"/>
                <a:ea typeface="Marcellus" pitchFamily="34" charset="-122"/>
                <a:cs typeface="Marcellus" pitchFamily="34" charset="-120"/>
              </a:rPr>
              <a:t>Civic Education Gap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4081165" y="3519860"/>
            <a:ext cx="4410670" cy="36849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100" dirty="0">
                <a:solidFill>
                  <a:srgbClr val="6753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Increasing civic participation requires that people can actually understand the laws that govern them.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6119" y="728142"/>
            <a:ext cx="4983212" cy="5298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3200" dirty="0">
                <a:solidFill>
                  <a:srgbClr val="532418"/>
                </a:solidFill>
                <a:latin typeface="Marcellus" pitchFamily="34" charset="0"/>
                <a:ea typeface="Marcellus" pitchFamily="34" charset="-122"/>
                <a:cs typeface="Marcellus" pitchFamily="34" charset="-120"/>
              </a:rPr>
              <a:t>What the Literature Says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96119" y="1541487"/>
            <a:ext cx="4004965" cy="1642393"/>
          </a:xfrm>
          <a:prstGeom prst="roundRect">
            <a:avLst>
              <a:gd name="adj" fmla="val 3625"/>
            </a:avLst>
          </a:prstGeom>
          <a:solidFill>
            <a:srgbClr val="FFFFF4">
              <a:alpha val="95000"/>
            </a:srgbClr>
          </a:solidFill>
          <a:ln w="19050">
            <a:solidFill>
              <a:srgbClr val="FFE0C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6927" y="1702296"/>
            <a:ext cx="3471193" cy="2649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600" dirty="0">
                <a:solidFill>
                  <a:srgbClr val="67534F"/>
                </a:solidFill>
                <a:latin typeface="Marcellus" pitchFamily="34" charset="0"/>
                <a:ea typeface="Marcellus" pitchFamily="34" charset="-122"/>
                <a:cs typeface="Marcellus" pitchFamily="34" charset="-120"/>
              </a:rPr>
              <a:t>Romanian Legal Simplification Debate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56927" y="2052265"/>
            <a:ext cx="3683347" cy="9708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223520" indent="-223520" algn="l">
              <a:lnSpc>
                <a:spcPct val="108000"/>
              </a:lnSpc>
              <a:buSzPct val="100000"/>
              <a:buChar char="•"/>
            </a:pPr>
            <a:r>
              <a:rPr lang="en-US" sz="1100" dirty="0">
                <a:solidFill>
                  <a:srgbClr val="6753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APADOR reports and civil society advocacy for accessible legal language</a:t>
            </a:r>
            <a:endParaRPr lang="en-US" sz="1100" dirty="0"/>
          </a:p>
          <a:p>
            <a:pPr marL="223520" indent="-223520" algn="l">
              <a:lnSpc>
                <a:spcPct val="108000"/>
              </a:lnSpc>
              <a:buSzPct val="100000"/>
              <a:buChar char="•"/>
            </a:pPr>
            <a:r>
              <a:rPr lang="en-US" sz="1100" dirty="0">
                <a:solidFill>
                  <a:srgbClr val="6753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Official Romanian legislation and transparency initiatives (law nr. 24/2000 &amp; part of national strategy as of December 2025)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642842" y="1541487"/>
            <a:ext cx="4005039" cy="1642393"/>
          </a:xfrm>
          <a:prstGeom prst="roundRect">
            <a:avLst>
              <a:gd name="adj" fmla="val 3625"/>
            </a:avLst>
          </a:prstGeom>
          <a:solidFill>
            <a:srgbClr val="FFFFF4">
              <a:alpha val="95000"/>
            </a:srgbClr>
          </a:solidFill>
          <a:ln w="19050">
            <a:solidFill>
              <a:srgbClr val="FFE0C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803651" y="1702296"/>
            <a:ext cx="2749525" cy="2649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600" dirty="0">
                <a:solidFill>
                  <a:srgbClr val="67534F"/>
                </a:solidFill>
                <a:latin typeface="Marcellus" pitchFamily="34" charset="0"/>
                <a:ea typeface="Marcellus" pitchFamily="34" charset="-122"/>
                <a:cs typeface="Marcellus" pitchFamily="34" charset="-120"/>
              </a:rPr>
              <a:t>US Plain Language Framework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803651" y="2052265"/>
            <a:ext cx="3683422" cy="78655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223520" indent="-223520" algn="l">
              <a:lnSpc>
                <a:spcPct val="108000"/>
              </a:lnSpc>
              <a:buSzPct val="100000"/>
              <a:buChar char="•"/>
            </a:pPr>
            <a:r>
              <a:rPr lang="en-US" sz="1100" dirty="0">
                <a:solidFill>
                  <a:srgbClr val="6753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Plain Writing Act (2010) and federal plain language standards</a:t>
            </a:r>
            <a:endParaRPr lang="en-US" sz="1100" dirty="0"/>
          </a:p>
          <a:p>
            <a:pPr marL="223520" indent="-223520" algn="l">
              <a:lnSpc>
                <a:spcPct val="108000"/>
              </a:lnSpc>
              <a:buSzPct val="100000"/>
              <a:buChar char="•"/>
            </a:pPr>
            <a:r>
              <a:rPr lang="en-US" sz="1100" dirty="0">
                <a:solidFill>
                  <a:srgbClr val="6753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Digital.gov principles for accessible government communication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96119" y="3325639"/>
            <a:ext cx="8151763" cy="1089645"/>
          </a:xfrm>
          <a:prstGeom prst="roundRect">
            <a:avLst>
              <a:gd name="adj" fmla="val 5464"/>
            </a:avLst>
          </a:prstGeom>
          <a:solidFill>
            <a:srgbClr val="FFFFF4">
              <a:alpha val="95000"/>
            </a:srgbClr>
          </a:solidFill>
          <a:ln w="19050">
            <a:solidFill>
              <a:srgbClr val="FFE0C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6927" y="3486448"/>
            <a:ext cx="2202135" cy="2649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600" dirty="0">
                <a:solidFill>
                  <a:srgbClr val="67534F"/>
                </a:solidFill>
                <a:latin typeface="Marcellus" pitchFamily="34" charset="0"/>
                <a:ea typeface="Marcellus" pitchFamily="34" charset="-122"/>
                <a:cs typeface="Marcellus" pitchFamily="34" charset="-120"/>
              </a:rPr>
              <a:t>Romanian NLP Research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56927" y="3836417"/>
            <a:ext cx="7830145" cy="41805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223520" indent="-223520" algn="l">
              <a:lnSpc>
                <a:spcPct val="108000"/>
              </a:lnSpc>
              <a:buSzPct val="100000"/>
              <a:buChar char="•"/>
            </a:pPr>
            <a:r>
              <a:rPr lang="en-US" sz="1100" dirty="0">
                <a:solidFill>
                  <a:srgbClr val="6753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ReaderBench framework for measuring textual complexity</a:t>
            </a:r>
            <a:endParaRPr lang="en-US" sz="1100" dirty="0"/>
          </a:p>
          <a:p>
            <a:pPr marL="223520" indent="-223520" algn="l">
              <a:lnSpc>
                <a:spcPct val="108000"/>
              </a:lnSpc>
              <a:buSzPct val="100000"/>
              <a:buChar char="•"/>
            </a:pPr>
            <a:r>
              <a:rPr lang="en-US" sz="1100" dirty="0">
                <a:solidFill>
                  <a:srgbClr val="6753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Studies on writing style evolution and readability metrics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6119" y="783654"/>
            <a:ext cx="4533007" cy="5298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3200" dirty="0">
                <a:solidFill>
                  <a:srgbClr val="532418"/>
                </a:solidFill>
                <a:latin typeface="Marcellus" pitchFamily="34" charset="0"/>
                <a:ea typeface="Marcellus" pitchFamily="34" charset="-122"/>
                <a:cs typeface="Marcellus" pitchFamily="34" charset="-120"/>
              </a:rPr>
              <a:t>The Pipeline</a:t>
            </a:r>
            <a:endParaRPr lang="en-US" sz="32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6119" y="1597000"/>
            <a:ext cx="8151763" cy="223487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478791" y="2404577"/>
            <a:ext cx="1231850" cy="26369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8000"/>
              </a:lnSpc>
              <a:buNone/>
            </a:pPr>
            <a:r>
              <a:rPr lang="en-US" sz="1550" dirty="0">
                <a:solidFill>
                  <a:srgbClr val="67534F"/>
                </a:solidFill>
                <a:latin typeface="Marcellus" pitchFamily="34" charset="0"/>
                <a:ea typeface="Marcellus" pitchFamily="34" charset="-122"/>
                <a:cs typeface="Marcellus" pitchFamily="34" charset="-120"/>
              </a:rPr>
              <a:t>Ingest</a:t>
            </a:r>
            <a:endParaRPr lang="en-US" sz="1550" dirty="0"/>
          </a:p>
        </p:txBody>
      </p:sp>
      <p:sp>
        <p:nvSpPr>
          <p:cNvPr id="5" name="Text 2"/>
          <p:cNvSpPr/>
          <p:nvPr/>
        </p:nvSpPr>
        <p:spPr>
          <a:xfrm>
            <a:off x="1478791" y="2731012"/>
            <a:ext cx="1231850" cy="35290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100" dirty="0">
                <a:solidFill>
                  <a:srgbClr val="6753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Read PDFs and extract clean text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3141353" y="2423203"/>
            <a:ext cx="1231850" cy="26369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8000"/>
              </a:lnSpc>
              <a:buNone/>
            </a:pPr>
            <a:r>
              <a:rPr lang="en-US" sz="1550" dirty="0">
                <a:solidFill>
                  <a:srgbClr val="532418"/>
                </a:solidFill>
                <a:latin typeface="Marcellus" pitchFamily="34" charset="0"/>
                <a:ea typeface="Marcellus" pitchFamily="34" charset="-122"/>
                <a:cs typeface="Marcellus" pitchFamily="34" charset="-120"/>
              </a:rPr>
              <a:t>Simplify</a:t>
            </a:r>
            <a:endParaRPr lang="en-US" sz="1550" dirty="0"/>
          </a:p>
        </p:txBody>
      </p:sp>
      <p:sp>
        <p:nvSpPr>
          <p:cNvPr id="7" name="Text 4"/>
          <p:cNvSpPr/>
          <p:nvPr/>
        </p:nvSpPr>
        <p:spPr>
          <a:xfrm>
            <a:off x="3141353" y="2749637"/>
            <a:ext cx="1231850" cy="35290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100" dirty="0">
                <a:solidFill>
                  <a:srgbClr val="6753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Agent 1 rewrites using rules file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835284" y="2404577"/>
            <a:ext cx="1231850" cy="26369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8000"/>
              </a:lnSpc>
              <a:buNone/>
            </a:pPr>
            <a:r>
              <a:rPr lang="en-US" sz="1550" dirty="0">
                <a:solidFill>
                  <a:srgbClr val="532418"/>
                </a:solidFill>
                <a:latin typeface="Marcellus" pitchFamily="34" charset="0"/>
                <a:ea typeface="Marcellus" pitchFamily="34" charset="-122"/>
                <a:cs typeface="Marcellus" pitchFamily="34" charset="-120"/>
              </a:rPr>
              <a:t>Measure</a:t>
            </a:r>
            <a:endParaRPr lang="en-US" sz="1550" dirty="0"/>
          </a:p>
        </p:txBody>
      </p:sp>
      <p:sp>
        <p:nvSpPr>
          <p:cNvPr id="9" name="Text 6"/>
          <p:cNvSpPr/>
          <p:nvPr/>
        </p:nvSpPr>
        <p:spPr>
          <a:xfrm>
            <a:off x="4835284" y="2731012"/>
            <a:ext cx="1231850" cy="52935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100" dirty="0">
                <a:solidFill>
                  <a:srgbClr val="6753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Deterministic code scores readability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6513530" y="2246752"/>
            <a:ext cx="1231849" cy="26369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8000"/>
              </a:lnSpc>
              <a:buNone/>
            </a:pPr>
            <a:r>
              <a:rPr lang="en-US" sz="1550" dirty="0">
                <a:solidFill>
                  <a:srgbClr val="532418"/>
                </a:solidFill>
                <a:latin typeface="Marcellus" pitchFamily="34" charset="0"/>
                <a:ea typeface="Marcellus" pitchFamily="34" charset="-122"/>
                <a:cs typeface="Marcellus" pitchFamily="34" charset="-120"/>
              </a:rPr>
              <a:t>Summarize</a:t>
            </a:r>
            <a:endParaRPr lang="en-US" sz="1550" dirty="0"/>
          </a:p>
        </p:txBody>
      </p:sp>
      <p:sp>
        <p:nvSpPr>
          <p:cNvPr id="11" name="Text 8"/>
          <p:cNvSpPr/>
          <p:nvPr/>
        </p:nvSpPr>
        <p:spPr>
          <a:xfrm>
            <a:off x="6513530" y="2573186"/>
            <a:ext cx="1231849" cy="52935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100" dirty="0">
                <a:solidFill>
                  <a:srgbClr val="6753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Agent 2 extracts points; package PDF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496119" y="3991347"/>
            <a:ext cx="8151763" cy="36849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100" dirty="0">
                <a:solidFill>
                  <a:srgbClr val="6753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Two AI agents handle language work; deterministic code handles measurement and rendering — each does what it's reliably good at.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6119" y="636389"/>
            <a:ext cx="6667872" cy="5298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3200" dirty="0">
                <a:solidFill>
                  <a:srgbClr val="532418"/>
                </a:solidFill>
                <a:latin typeface="Marcellus" pitchFamily="34" charset="0"/>
                <a:ea typeface="Marcellus" pitchFamily="34" charset="-122"/>
                <a:cs typeface="Marcellus" pitchFamily="34" charset="-120"/>
              </a:rPr>
              <a:t>Evaluation: Computational Results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96119" y="1520577"/>
            <a:ext cx="3993952" cy="2649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600" dirty="0">
                <a:solidFill>
                  <a:srgbClr val="532418"/>
                </a:solidFill>
                <a:latin typeface="Marcellus" pitchFamily="34" charset="0"/>
                <a:ea typeface="Marcellus" pitchFamily="34" charset="-122"/>
                <a:cs typeface="Marcellus" pitchFamily="34" charset="-120"/>
              </a:rPr>
              <a:t>Key Findings Across 6 Official Gazettes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96119" y="1927250"/>
            <a:ext cx="3902943" cy="20407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223520" indent="-223520" algn="l">
              <a:lnSpc>
                <a:spcPct val="108000"/>
              </a:lnSpc>
              <a:buSzPct val="100000"/>
              <a:buChar char="•"/>
            </a:pPr>
            <a:r>
              <a:rPr lang="en-US" sz="1100" b="1" dirty="0">
                <a:solidFill>
                  <a:srgbClr val="67534F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100%</a:t>
            </a:r>
            <a:r>
              <a:rPr lang="en-US" sz="1100" dirty="0">
                <a:solidFill>
                  <a:srgbClr val="6753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showed reduced lexical entropy — simpler, more repetitive vocabulary</a:t>
            </a:r>
            <a:endParaRPr lang="en-US" sz="1100" dirty="0"/>
          </a:p>
          <a:p>
            <a:pPr marL="223520" indent="-223520" algn="l">
              <a:lnSpc>
                <a:spcPct val="108000"/>
              </a:lnSpc>
              <a:buSzPct val="100000"/>
              <a:buChar char="•"/>
            </a:pPr>
            <a:r>
              <a:rPr lang="en-US" sz="1100" b="1" dirty="0">
                <a:solidFill>
                  <a:srgbClr val="67534F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5/6</a:t>
            </a:r>
            <a:r>
              <a:rPr lang="en-US" sz="1100" dirty="0">
                <a:solidFill>
                  <a:srgbClr val="6753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had shorter sentences; Gazette 282 dropped by 14.6 words on average</a:t>
            </a:r>
            <a:endParaRPr lang="en-US" sz="1100" dirty="0"/>
          </a:p>
          <a:p>
            <a:pPr marL="223520" indent="-223520" algn="l">
              <a:lnSpc>
                <a:spcPct val="108000"/>
              </a:lnSpc>
              <a:buSzPct val="100000"/>
              <a:buChar char="•"/>
            </a:pPr>
            <a:r>
              <a:rPr lang="en-US" sz="1100" dirty="0">
                <a:solidFill>
                  <a:srgbClr val="6753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specific forms of the words used may technically be more complex in their inflected states</a:t>
            </a:r>
            <a:endParaRPr lang="en-US" sz="1100" dirty="0"/>
          </a:p>
          <a:p>
            <a:pPr marL="223520" indent="-223520" algn="l">
              <a:lnSpc>
                <a:spcPct val="108000"/>
              </a:lnSpc>
              <a:buSzPct val="100000"/>
              <a:buChar char="•"/>
            </a:pPr>
            <a:r>
              <a:rPr lang="en-US" sz="1100" b="1" dirty="0">
                <a:solidFill>
                  <a:srgbClr val="67534F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Gazette 151</a:t>
            </a:r>
            <a:r>
              <a:rPr lang="en-US" sz="1100" dirty="0">
                <a:solidFill>
                  <a:srgbClr val="6753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was the only document where every index improved</a:t>
            </a:r>
            <a:endParaRPr lang="en-US" sz="1100" dirty="0"/>
          </a:p>
          <a:p>
            <a:pPr marL="223520" indent="-223520" algn="l">
              <a:lnSpc>
                <a:spcPct val="108000"/>
              </a:lnSpc>
              <a:buSzPct val="100000"/>
              <a:buChar char="•"/>
            </a:pPr>
            <a:r>
              <a:rPr lang="en-US" sz="1100" b="1" dirty="0">
                <a:solidFill>
                  <a:srgbClr val="67534F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Gazette 10</a:t>
            </a:r>
            <a:r>
              <a:rPr lang="en-US" sz="1100" dirty="0">
                <a:solidFill>
                  <a:srgbClr val="6753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was an outlier — simplification increased sentence length</a:t>
            </a:r>
            <a:endParaRPr lang="en-US" sz="1100" dirty="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49701" y="1538288"/>
            <a:ext cx="3902943" cy="280935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6119" y="726951"/>
            <a:ext cx="5299844" cy="5298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3200" dirty="0">
                <a:solidFill>
                  <a:srgbClr val="532418"/>
                </a:solidFill>
                <a:latin typeface="Marcellus" pitchFamily="34" charset="0"/>
                <a:ea typeface="Marcellus" pitchFamily="34" charset="-122"/>
                <a:cs typeface="Marcellus" pitchFamily="34" charset="-120"/>
              </a:rPr>
              <a:t>Evaluation: Human Testing</a:t>
            </a:r>
            <a:endParaRPr lang="en-US" sz="32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6119" y="1628849"/>
            <a:ext cx="2628230" cy="262823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3474988" y="2011859"/>
            <a:ext cx="2495104" cy="2649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600" dirty="0">
                <a:solidFill>
                  <a:srgbClr val="532418"/>
                </a:solidFill>
                <a:latin typeface="Marcellus" pitchFamily="34" charset="0"/>
                <a:ea typeface="Marcellus" pitchFamily="34" charset="-122"/>
                <a:cs typeface="Marcellus" pitchFamily="34" charset="-120"/>
              </a:rPr>
              <a:t>Study Design</a:t>
            </a:r>
            <a:endParaRPr lang="en-US" sz="1600" dirty="0"/>
          </a:p>
        </p:txBody>
      </p:sp>
      <p:sp>
        <p:nvSpPr>
          <p:cNvPr id="5" name="Text 2"/>
          <p:cNvSpPr/>
          <p:nvPr/>
        </p:nvSpPr>
        <p:spPr>
          <a:xfrm>
            <a:off x="3474988" y="2418531"/>
            <a:ext cx="5177582" cy="5527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100" dirty="0">
                <a:solidFill>
                  <a:srgbClr val="6753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 participants (ages 26–59, Romanian native speakers, varied backgrounds) read both original and simplified documents using two separate evaluation forms.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3474988" y="3113038"/>
            <a:ext cx="2495104" cy="2649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600" dirty="0">
                <a:solidFill>
                  <a:srgbClr val="532418"/>
                </a:solidFill>
                <a:latin typeface="Marcellus" pitchFamily="34" charset="0"/>
                <a:ea typeface="Marcellus" pitchFamily="34" charset="-122"/>
                <a:cs typeface="Marcellus" pitchFamily="34" charset="-120"/>
              </a:rPr>
              <a:t>Result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3474988" y="3519711"/>
            <a:ext cx="5177582" cy="36849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100" dirty="0">
                <a:solidFill>
                  <a:srgbClr val="6753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Questions about the </a:t>
            </a:r>
            <a:r>
              <a:rPr lang="en-US" sz="1100" b="1" dirty="0">
                <a:solidFill>
                  <a:srgbClr val="67534F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simplified version scored slightly higher</a:t>
            </a:r>
            <a:r>
              <a:rPr lang="en-US" sz="1100" dirty="0">
                <a:solidFill>
                  <a:srgbClr val="6753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than those about the original — indicating improved comprehension.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600450" cy="5143500"/>
          </a:xfrm>
          <a:prstGeom prst="rect">
            <a:avLst/>
          </a:prstGeom>
          <a:solidFill>
            <a:srgbClr val="FFFFF4"/>
          </a:solidFill>
          <a:ln/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410" y="592782"/>
            <a:ext cx="2638574" cy="395793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3925119" y="414114"/>
            <a:ext cx="4214589" cy="4883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2950" dirty="0">
                <a:solidFill>
                  <a:srgbClr val="532418"/>
                </a:solidFill>
                <a:latin typeface="Marcellus" pitchFamily="34" charset="0"/>
                <a:ea typeface="Marcellus" pitchFamily="34" charset="-122"/>
                <a:cs typeface="Marcellus" pitchFamily="34" charset="-120"/>
              </a:rPr>
              <a:t>Looking Ahead</a:t>
            </a:r>
            <a:endParaRPr lang="en-US" sz="2950" dirty="0"/>
          </a:p>
        </p:txBody>
      </p:sp>
      <p:pic>
        <p:nvPicPr>
          <p:cNvPr id="5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925119" y="1083171"/>
            <a:ext cx="261342" cy="261342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3925119" y="1495053"/>
            <a:ext cx="1878657" cy="24422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450" dirty="0">
                <a:solidFill>
                  <a:srgbClr val="67534F"/>
                </a:solidFill>
                <a:latin typeface="Marcellus" pitchFamily="34" charset="0"/>
                <a:ea typeface="Marcellus" pitchFamily="34" charset="-122"/>
                <a:cs typeface="Marcellus" pitchFamily="34" charset="-120"/>
              </a:rPr>
              <a:t>Broader Scope</a:t>
            </a:r>
            <a:endParaRPr lang="en-US" sz="1450" dirty="0"/>
          </a:p>
        </p:txBody>
      </p:sp>
      <p:sp>
        <p:nvSpPr>
          <p:cNvPr id="7" name="Text 3"/>
          <p:cNvSpPr/>
          <p:nvPr/>
        </p:nvSpPr>
        <p:spPr>
          <a:xfrm>
            <a:off x="3925119" y="1811536"/>
            <a:ext cx="4722763" cy="3263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000" dirty="0">
                <a:solidFill>
                  <a:srgbClr val="6753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More documents, larger and more diverse participant samples across regions and education levels.</a:t>
            </a:r>
            <a:endParaRPr lang="en-US" sz="1000" dirty="0"/>
          </a:p>
        </p:txBody>
      </p:sp>
      <p:pic>
        <p:nvPicPr>
          <p:cNvPr id="8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925119" y="2378869"/>
            <a:ext cx="261342" cy="261342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3925119" y="2790751"/>
            <a:ext cx="1878657" cy="24422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450" dirty="0">
                <a:solidFill>
                  <a:srgbClr val="67534F"/>
                </a:solidFill>
                <a:latin typeface="Marcellus" pitchFamily="34" charset="0"/>
                <a:ea typeface="Marcellus" pitchFamily="34" charset="-122"/>
                <a:cs typeface="Marcellus" pitchFamily="34" charset="-120"/>
              </a:rPr>
              <a:t>Deeper NLP</a:t>
            </a:r>
            <a:endParaRPr lang="en-US" sz="1450" dirty="0"/>
          </a:p>
        </p:txBody>
      </p:sp>
      <p:sp>
        <p:nvSpPr>
          <p:cNvPr id="10" name="Text 5"/>
          <p:cNvSpPr/>
          <p:nvPr/>
        </p:nvSpPr>
        <p:spPr>
          <a:xfrm>
            <a:off x="3925119" y="3107234"/>
            <a:ext cx="4722763" cy="3263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000" dirty="0">
                <a:solidFill>
                  <a:srgbClr val="6753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Incorporate ReaderBench's LSA and LDA for richer semantic analysis; explore open-source, locally run models.</a:t>
            </a:r>
            <a:endParaRPr lang="en-US" sz="1000" dirty="0"/>
          </a:p>
        </p:txBody>
      </p:sp>
      <p:pic>
        <p:nvPicPr>
          <p:cNvPr id="11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925119" y="3674566"/>
            <a:ext cx="261342" cy="261342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3925119" y="4086448"/>
            <a:ext cx="1878657" cy="24422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450" dirty="0">
                <a:solidFill>
                  <a:srgbClr val="67534F"/>
                </a:solidFill>
                <a:latin typeface="Marcellus" pitchFamily="34" charset="0"/>
                <a:ea typeface="Marcellus" pitchFamily="34" charset="-122"/>
                <a:cs typeface="Marcellus" pitchFamily="34" charset="-120"/>
              </a:rPr>
              <a:t>Interactive Access</a:t>
            </a:r>
            <a:endParaRPr lang="en-US" sz="1450" dirty="0"/>
          </a:p>
        </p:txBody>
      </p:sp>
      <p:sp>
        <p:nvSpPr>
          <p:cNvPr id="13" name="Text 7"/>
          <p:cNvSpPr/>
          <p:nvPr/>
        </p:nvSpPr>
        <p:spPr>
          <a:xfrm>
            <a:off x="3925119" y="4402931"/>
            <a:ext cx="4722763" cy="3263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000" dirty="0">
                <a:solidFill>
                  <a:srgbClr val="6753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Add a dedicated chatbot so users can ask questions about simplified legal documents directly.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67593" y="2041922"/>
            <a:ext cx="8608814" cy="10596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8000"/>
              </a:lnSpc>
              <a:buNone/>
            </a:pPr>
            <a:r>
              <a:rPr lang="en-US" sz="6400" dirty="0">
                <a:solidFill>
                  <a:srgbClr val="532418"/>
                </a:solidFill>
                <a:latin typeface="Marcellus" pitchFamily="34" charset="0"/>
                <a:ea typeface="Marcellus" pitchFamily="34" charset="-122"/>
                <a:cs typeface="Marcellus" pitchFamily="34" charset="-120"/>
              </a:rPr>
              <a:t>Thank you!</a:t>
            </a:r>
            <a:endParaRPr lang="en-US" sz="6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</TotalTime>
  <Words>400</Words>
  <Application>Microsoft Office PowerPoint</Application>
  <PresentationFormat>On-screen Show (16:9)</PresentationFormat>
  <Paragraphs>56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3" baseType="lpstr">
      <vt:lpstr>Montserrat Bold</vt:lpstr>
      <vt:lpstr>Marcellus</vt:lpstr>
      <vt:lpstr>Montserrat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lastModifiedBy>vznves9p_d@univie.onmicrosoft.com</cp:lastModifiedBy>
  <cp:revision>2</cp:revision>
  <dcterms:created xsi:type="dcterms:W3CDTF">2026-07-02T12:15:27Z</dcterms:created>
  <dcterms:modified xsi:type="dcterms:W3CDTF">2026-07-02T13:08:57Z</dcterms:modified>
</cp:coreProperties>
</file>